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adley" charset="1" panose="00000500000000000000"/>
      <p:regular r:id="rId17"/>
    </p:embeddedFont>
    <p:embeddedFont>
      <p:font typeface="Radley Italics" charset="1" panose="00000500000000000000"/>
      <p:regular r:id="rId18"/>
    </p:embeddedFont>
    <p:embeddedFont>
      <p:font typeface="Carlito" charset="1" panose="020F0502020204030204"/>
      <p:regular r:id="rId19"/>
    </p:embeddedFont>
    <p:embeddedFont>
      <p:font typeface="Carlito Bold"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4981575" y="3352800"/>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102" t="0" r="-102" b="0"/>
              </a:stretch>
            </a:blipFill>
          </p:spPr>
        </p:sp>
      </p:grpSp>
      <p:grpSp>
        <p:nvGrpSpPr>
          <p:cNvPr name="Group 4" id="4"/>
          <p:cNvGrpSpPr/>
          <p:nvPr/>
        </p:nvGrpSpPr>
        <p:grpSpPr>
          <a:xfrm rot="0">
            <a:off x="666750" y="666750"/>
            <a:ext cx="16954500" cy="2172955"/>
            <a:chOff x="0" y="0"/>
            <a:chExt cx="22606000" cy="2897274"/>
          </a:xfrm>
        </p:grpSpPr>
        <p:sp>
          <p:nvSpPr>
            <p:cNvPr name="AutoShape 5" id="5"/>
            <p:cNvSpPr/>
            <p:nvPr/>
          </p:nvSpPr>
          <p:spPr>
            <a:xfrm>
              <a:off x="0" y="2884574"/>
              <a:ext cx="22606000" cy="0"/>
            </a:xfrm>
            <a:prstGeom prst="line">
              <a:avLst/>
            </a:prstGeom>
            <a:ln cap="flat" w="25400">
              <a:solidFill>
                <a:srgbClr val="2C3E50"/>
              </a:solidFill>
              <a:prstDash val="solid"/>
              <a:headEnd type="none" len="sm" w="sm"/>
              <a:tailEnd type="none" len="sm" w="sm"/>
            </a:ln>
          </p:spPr>
        </p:sp>
        <p:sp>
          <p:nvSpPr>
            <p:cNvPr name="TextBox 6" id="6"/>
            <p:cNvSpPr txBox="true"/>
            <p:nvPr/>
          </p:nvSpPr>
          <p:spPr>
            <a:xfrm rot="0">
              <a:off x="0" y="152400"/>
              <a:ext cx="22606000" cy="1525554"/>
            </a:xfrm>
            <a:prstGeom prst="rect">
              <a:avLst/>
            </a:prstGeom>
          </p:spPr>
          <p:txBody>
            <a:bodyPr anchor="t" rtlCol="false" tIns="0" lIns="0" bIns="0" rIns="0">
              <a:spAutoFit/>
            </a:bodyPr>
            <a:lstStyle/>
            <a:p>
              <a:pPr algn="ctr" marL="0" indent="0" lvl="0">
                <a:lnSpc>
                  <a:spcPts val="8295"/>
                </a:lnSpc>
              </a:pPr>
              <a:r>
                <a:rPr lang="en-US" sz="8295" spc="-165" u="none">
                  <a:solidFill>
                    <a:srgbClr val="2C3E50"/>
                  </a:solidFill>
                  <a:latin typeface="Radley"/>
                  <a:ea typeface="Radley"/>
                  <a:cs typeface="Radley"/>
                  <a:sym typeface="Radley"/>
                </a:rPr>
                <a:t>Customer Shopping Behavior Analysis</a:t>
              </a:r>
            </a:p>
          </p:txBody>
        </p:sp>
      </p:grpSp>
      <p:sp>
        <p:nvSpPr>
          <p:cNvPr name="TextBox 7" id="7"/>
          <p:cNvSpPr txBox="true"/>
          <p:nvPr/>
        </p:nvSpPr>
        <p:spPr>
          <a:xfrm rot="0">
            <a:off x="361950" y="9037955"/>
            <a:ext cx="4314825" cy="582295"/>
          </a:xfrm>
          <a:prstGeom prst="rect">
            <a:avLst/>
          </a:prstGeom>
        </p:spPr>
        <p:txBody>
          <a:bodyPr anchor="t" rtlCol="false" tIns="0" lIns="0" bIns="0" rIns="0">
            <a:spAutoFit/>
          </a:bodyPr>
          <a:lstStyle/>
          <a:p>
            <a:pPr algn="l">
              <a:lnSpc>
                <a:spcPts val="2299"/>
              </a:lnSpc>
            </a:pPr>
            <a:r>
              <a:rPr lang="en-US" sz="2299" i="true">
                <a:solidFill>
                  <a:srgbClr val="2980B9"/>
                </a:solidFill>
                <a:latin typeface="Radley Italics"/>
                <a:ea typeface="Radley Italics"/>
                <a:cs typeface="Radley Italics"/>
                <a:sym typeface="Radley Italics"/>
              </a:rPr>
              <a:t>Shaik Naved Ahmed - 2303A54053</a:t>
            </a:r>
          </a:p>
          <a:p>
            <a:pPr algn="l" marL="0" indent="0" lvl="0">
              <a:lnSpc>
                <a:spcPts val="2299"/>
              </a:lnSpc>
            </a:pPr>
            <a:r>
              <a:rPr lang="en-US" sz="2299" i="true">
                <a:solidFill>
                  <a:srgbClr val="2980B9"/>
                </a:solidFill>
                <a:latin typeface="Radley Italics"/>
                <a:ea typeface="Radley Italics"/>
                <a:cs typeface="Radley Italics"/>
                <a:sym typeface="Radley Italics"/>
              </a:rPr>
              <a:t>Pathalavath Srinivas - 2303A54067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5172075"/>
            <a:chOff x="0" y="0"/>
            <a:chExt cx="9641153" cy="68961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2C3E50"/>
                  </a:solidFill>
                  <a:latin typeface="Radley Italics"/>
                  <a:ea typeface="Radley Italics"/>
                  <a:cs typeface="Radley Italics"/>
                  <a:sym typeface="Radley Italics"/>
                </a:rPr>
                <a:t>Introduction</a:t>
              </a:r>
            </a:p>
          </p:txBody>
        </p:sp>
        <p:sp>
          <p:nvSpPr>
            <p:cNvPr name="TextBox 6" id="6"/>
            <p:cNvSpPr txBox="true"/>
            <p:nvPr/>
          </p:nvSpPr>
          <p:spPr>
            <a:xfrm rot="0">
              <a:off x="26326" y="23876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2980B9"/>
                  </a:solidFill>
                  <a:latin typeface="Radley"/>
                  <a:ea typeface="Radley"/>
                  <a:cs typeface="Radley"/>
                  <a:sym typeface="Radley"/>
                </a:rPr>
                <a:t>Unveiling customer insights through advanced data analysis techniques</a:t>
              </a:r>
            </a:p>
          </p:txBody>
        </p:sp>
        <p:sp>
          <p:nvSpPr>
            <p:cNvPr name="AutoShape 7" id="7"/>
            <p:cNvSpPr/>
            <p:nvPr/>
          </p:nvSpPr>
          <p:spPr>
            <a:xfrm>
              <a:off x="0" y="1901614"/>
              <a:ext cx="9614826" cy="0"/>
            </a:xfrm>
            <a:prstGeom prst="line">
              <a:avLst/>
            </a:prstGeom>
            <a:ln cap="flat" w="25400">
              <a:solidFill>
                <a:srgbClr val="2C3E50"/>
              </a:solidFill>
              <a:prstDash val="solid"/>
              <a:headEnd type="none" len="sm" w="sm"/>
              <a:tailEnd type="none" len="sm" w="sm"/>
            </a:ln>
          </p:spPr>
        </p:sp>
        <p:sp>
          <p:nvSpPr>
            <p:cNvPr name="TextBox 8" id="8"/>
            <p:cNvSpPr txBox="true"/>
            <p:nvPr/>
          </p:nvSpPr>
          <p:spPr>
            <a:xfrm rot="0">
              <a:off x="26326" y="4419600"/>
              <a:ext cx="9588500" cy="2476500"/>
            </a:xfrm>
            <a:prstGeom prst="rect">
              <a:avLst/>
            </a:prstGeom>
          </p:spPr>
          <p:txBody>
            <a:bodyPr anchor="t" rtlCol="false" tIns="0" lIns="0" bIns="0" rIns="0">
              <a:spAutoFit/>
            </a:bodyPr>
            <a:lstStyle/>
            <a:p>
              <a:pPr algn="l" marL="0" indent="0" lvl="0">
                <a:lnSpc>
                  <a:spcPts val="2400"/>
                </a:lnSpc>
              </a:pPr>
              <a:r>
                <a:rPr lang="en-US" sz="2000">
                  <a:solidFill>
                    <a:srgbClr val="2C3E50"/>
                  </a:solidFill>
                  <a:latin typeface="Carlito"/>
                  <a:ea typeface="Carlito"/>
                  <a:cs typeface="Carlito"/>
                  <a:sym typeface="Carlito"/>
                </a:rPr>
                <a:t>Understanding customer shopping behavior is crucial for businesses aiming to enhance their strategies. By leveraging tools such as Python, SQL, and machine learning, we can extract valuable insights from data. This analysis equips organizations with the knowledge needed to tailor their offerings and improve customer engagement effectively.</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316" t="0" r="-316"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316" t="0" r="-316"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316" t="0" r="-316"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Objectives</a:t>
            </a:r>
          </a:p>
        </p:txBody>
      </p:sp>
      <p:grpSp>
        <p:nvGrpSpPr>
          <p:cNvPr name="Group 9" id="9"/>
          <p:cNvGrpSpPr/>
          <p:nvPr/>
        </p:nvGrpSpPr>
        <p:grpSpPr>
          <a:xfrm rot="0">
            <a:off x="4981575" y="4248150"/>
            <a:ext cx="2876550" cy="1148572"/>
            <a:chOff x="0" y="0"/>
            <a:chExt cx="3835400" cy="1531429"/>
          </a:xfrm>
        </p:grpSpPr>
        <p:sp>
          <p:nvSpPr>
            <p:cNvPr name="TextBox 10" id="10"/>
            <p:cNvSpPr txBox="true"/>
            <p:nvPr/>
          </p:nvSpPr>
          <p:spPr>
            <a:xfrm rot="0">
              <a:off x="0" y="-38100"/>
              <a:ext cx="3835400" cy="461243"/>
            </a:xfrm>
            <a:prstGeom prst="rect">
              <a:avLst/>
            </a:prstGeom>
          </p:spPr>
          <p:txBody>
            <a:bodyPr anchor="t" rtlCol="false" tIns="0" lIns="0" bIns="0" rIns="0">
              <a:spAutoFit/>
            </a:bodyPr>
            <a:lstStyle/>
            <a:p>
              <a:pPr algn="l" marL="0" indent="0" lvl="0">
                <a:lnSpc>
                  <a:spcPts val="2982"/>
                </a:lnSpc>
                <a:spcBef>
                  <a:spcPct val="0"/>
                </a:spcBef>
              </a:pPr>
              <a:r>
                <a:rPr lang="en-US" sz="2130">
                  <a:solidFill>
                    <a:srgbClr val="2980B9"/>
                  </a:solidFill>
                  <a:latin typeface="Radley"/>
                  <a:ea typeface="Radley"/>
                  <a:cs typeface="Radley"/>
                  <a:sym typeface="Radley"/>
                </a:rPr>
                <a:t>Actionable Insights</a:t>
              </a:r>
            </a:p>
          </p:txBody>
        </p:sp>
        <p:sp>
          <p:nvSpPr>
            <p:cNvPr name="TextBox 11" id="11"/>
            <p:cNvSpPr txBox="true"/>
            <p:nvPr/>
          </p:nvSpPr>
          <p:spPr>
            <a:xfrm rot="0">
              <a:off x="0" y="67799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Leveraging data for informed business decisions</a:t>
              </a:r>
            </a:p>
          </p:txBody>
        </p:sp>
      </p:grpSp>
      <p:grpSp>
        <p:nvGrpSpPr>
          <p:cNvPr name="Group 12" id="12"/>
          <p:cNvGrpSpPr/>
          <p:nvPr/>
        </p:nvGrpSpPr>
        <p:grpSpPr>
          <a:xfrm rot="0">
            <a:off x="9296400" y="4248150"/>
            <a:ext cx="2876550" cy="1148572"/>
            <a:chOff x="0" y="0"/>
            <a:chExt cx="3835400" cy="1531429"/>
          </a:xfrm>
        </p:grpSpPr>
        <p:sp>
          <p:nvSpPr>
            <p:cNvPr name="TextBox 13" id="13"/>
            <p:cNvSpPr txBox="true"/>
            <p:nvPr/>
          </p:nvSpPr>
          <p:spPr>
            <a:xfrm rot="0">
              <a:off x="0" y="67799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Understanding patterns across various customer categories</a:t>
              </a:r>
            </a:p>
          </p:txBody>
        </p:sp>
        <p:sp>
          <p:nvSpPr>
            <p:cNvPr name="TextBox 14" id="14"/>
            <p:cNvSpPr txBox="true"/>
            <p:nvPr/>
          </p:nvSpPr>
          <p:spPr>
            <a:xfrm rot="0">
              <a:off x="0" y="-38100"/>
              <a:ext cx="3835400" cy="461243"/>
            </a:xfrm>
            <a:prstGeom prst="rect">
              <a:avLst/>
            </a:prstGeom>
          </p:spPr>
          <p:txBody>
            <a:bodyPr anchor="t" rtlCol="false" tIns="0" lIns="0" bIns="0" rIns="0">
              <a:spAutoFit/>
            </a:bodyPr>
            <a:lstStyle/>
            <a:p>
              <a:pPr algn="l" marL="0" indent="0" lvl="0">
                <a:lnSpc>
                  <a:spcPts val="2982"/>
                </a:lnSpc>
                <a:spcBef>
                  <a:spcPct val="0"/>
                </a:spcBef>
              </a:pPr>
              <a:r>
                <a:rPr lang="en-US" sz="2130">
                  <a:solidFill>
                    <a:srgbClr val="2980B9"/>
                  </a:solidFill>
                  <a:latin typeface="Radley"/>
                  <a:ea typeface="Radley"/>
                  <a:cs typeface="Radley"/>
                  <a:sym typeface="Radley"/>
                </a:rPr>
                <a:t>Trend Analysis</a:t>
              </a:r>
            </a:p>
          </p:txBody>
        </p:sp>
      </p:grpSp>
      <p:grpSp>
        <p:nvGrpSpPr>
          <p:cNvPr name="Group 15" id="15"/>
          <p:cNvGrpSpPr/>
          <p:nvPr/>
        </p:nvGrpSpPr>
        <p:grpSpPr>
          <a:xfrm rot="0">
            <a:off x="13611225" y="4248150"/>
            <a:ext cx="2876550" cy="1148572"/>
            <a:chOff x="0" y="0"/>
            <a:chExt cx="3835400" cy="1531429"/>
          </a:xfrm>
        </p:grpSpPr>
        <p:sp>
          <p:nvSpPr>
            <p:cNvPr name="TextBox 16" id="16"/>
            <p:cNvSpPr txBox="true"/>
            <p:nvPr/>
          </p:nvSpPr>
          <p:spPr>
            <a:xfrm rot="0">
              <a:off x="0" y="677989"/>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Tailoring strategies for diverse consumer groups</a:t>
              </a:r>
            </a:p>
          </p:txBody>
        </p:sp>
        <p:sp>
          <p:nvSpPr>
            <p:cNvPr name="TextBox 17" id="17"/>
            <p:cNvSpPr txBox="true"/>
            <p:nvPr/>
          </p:nvSpPr>
          <p:spPr>
            <a:xfrm rot="0">
              <a:off x="0" y="-38100"/>
              <a:ext cx="3835400" cy="461243"/>
            </a:xfrm>
            <a:prstGeom prst="rect">
              <a:avLst/>
            </a:prstGeom>
          </p:spPr>
          <p:txBody>
            <a:bodyPr anchor="t" rtlCol="false" tIns="0" lIns="0" bIns="0" rIns="0">
              <a:spAutoFit/>
            </a:bodyPr>
            <a:lstStyle/>
            <a:p>
              <a:pPr algn="l" marL="0" indent="0" lvl="0">
                <a:lnSpc>
                  <a:spcPts val="2982"/>
                </a:lnSpc>
                <a:spcBef>
                  <a:spcPct val="0"/>
                </a:spcBef>
              </a:pPr>
              <a:r>
                <a:rPr lang="en-US" sz="2130">
                  <a:solidFill>
                    <a:srgbClr val="2980B9"/>
                  </a:solidFill>
                  <a:latin typeface="Radley"/>
                  <a:ea typeface="Radley"/>
                  <a:cs typeface="Radley"/>
                  <a:sym typeface="Radley"/>
                </a:rPr>
                <a:t>Customer Segmentation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14375"/>
            <a:ext cx="4619625" cy="3636645"/>
          </a:xfrm>
          <a:prstGeom prst="rect">
            <a:avLst/>
          </a:prstGeom>
        </p:spPr>
        <p:txBody>
          <a:bodyPr anchor="t" rtlCol="false" tIns="0" lIns="0" bIns="0" rIns="0">
            <a:spAutoFit/>
          </a:bodyPr>
          <a:lstStyle/>
          <a:p>
            <a:pPr algn="l" marL="0" indent="0" lvl="0">
              <a:lnSpc>
                <a:spcPts val="7140"/>
              </a:lnSpc>
              <a:spcBef>
                <a:spcPct val="0"/>
              </a:spcBef>
            </a:pPr>
            <a:r>
              <a:rPr lang="en-US" sz="6375">
                <a:solidFill>
                  <a:srgbClr val="2C3E50"/>
                </a:solidFill>
                <a:latin typeface="Radley"/>
                <a:ea typeface="Radley"/>
                <a:cs typeface="Radley"/>
                <a:sym typeface="Radley"/>
              </a:rPr>
              <a:t>Key Stakeholders in the Analysis</a:t>
            </a:r>
          </a:p>
        </p:txBody>
      </p:sp>
      <p:grpSp>
        <p:nvGrpSpPr>
          <p:cNvPr name="Group 5" id="5"/>
          <p:cNvGrpSpPr/>
          <p:nvPr/>
        </p:nvGrpSpPr>
        <p:grpSpPr>
          <a:xfrm rot="0">
            <a:off x="7553325" y="7829550"/>
            <a:ext cx="5753100" cy="1209675"/>
            <a:chOff x="0" y="0"/>
            <a:chExt cx="7670800" cy="1612900"/>
          </a:xfrm>
        </p:grpSpPr>
        <p:sp>
          <p:nvSpPr>
            <p:cNvPr name="TextBox 6" id="6"/>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Stakeholder Impact</a:t>
              </a:r>
            </a:p>
          </p:txBody>
        </p:sp>
        <p:sp>
          <p:nvSpPr>
            <p:cNvPr name="TextBox 7" id="7"/>
            <p:cNvSpPr txBox="true"/>
            <p:nvPr/>
          </p:nvSpPr>
          <p:spPr>
            <a:xfrm rot="0">
              <a:off x="0" y="759460"/>
              <a:ext cx="76708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Business owners and teams drive data-driven decision-making.</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666750" y="7239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2C3E50"/>
                </a:solidFill>
                <a:latin typeface="Radley"/>
                <a:ea typeface="Radley"/>
                <a:cs typeface="Radley"/>
                <a:sym typeface="Radley"/>
              </a:rPr>
              <a:t>Programming Languages and Tools</a:t>
            </a:r>
          </a:p>
        </p:txBody>
      </p:sp>
      <p:grpSp>
        <p:nvGrpSpPr>
          <p:cNvPr name="Group 3" id="3"/>
          <p:cNvGrpSpPr/>
          <p:nvPr/>
        </p:nvGrpSpPr>
        <p:grpSpPr>
          <a:xfrm rot="0">
            <a:off x="666750" y="3352800"/>
            <a:ext cx="3476954" cy="1096125"/>
            <a:chOff x="0" y="0"/>
            <a:chExt cx="4635939" cy="1461500"/>
          </a:xfrm>
        </p:grpSpPr>
        <p:sp>
          <p:nvSpPr>
            <p:cNvPr name="TextBox 4" id="4"/>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2980B9"/>
                  </a:solidFill>
                  <a:latin typeface="Radley"/>
                  <a:ea typeface="Radley"/>
                  <a:cs typeface="Radley"/>
                  <a:sym typeface="Radley"/>
                </a:rPr>
                <a:t>Python</a:t>
              </a:r>
            </a:p>
          </p:txBody>
        </p:sp>
        <p:sp>
          <p:nvSpPr>
            <p:cNvPr name="TextBox 5" id="5"/>
            <p:cNvSpPr txBox="true"/>
            <p:nvPr/>
          </p:nvSpPr>
          <p:spPr>
            <a:xfrm rot="0">
              <a:off x="0" y="528262"/>
              <a:ext cx="4635939" cy="933238"/>
            </a:xfrm>
            <a:prstGeom prst="rect">
              <a:avLst/>
            </a:prstGeom>
          </p:spPr>
          <p:txBody>
            <a:bodyPr anchor="t" rtlCol="false" tIns="0" lIns="0" bIns="0" rIns="0">
              <a:spAutoFit/>
            </a:bodyPr>
            <a:lstStyle/>
            <a:p>
              <a:pPr algn="l" marL="0" indent="0" lvl="0">
                <a:lnSpc>
                  <a:spcPts val="2764"/>
                </a:lnSpc>
              </a:pPr>
              <a:r>
                <a:rPr lang="en-US" b="true" sz="1974">
                  <a:solidFill>
                    <a:srgbClr val="2C3E50"/>
                  </a:solidFill>
                  <a:latin typeface="Carlito Bold"/>
                  <a:ea typeface="Carlito Bold"/>
                  <a:cs typeface="Carlito Bold"/>
                  <a:sym typeface="Carlito Bold"/>
                </a:rPr>
                <a:t>Powerful</a:t>
              </a:r>
              <a:r>
                <a:rPr lang="en-US" sz="1974">
                  <a:solidFill>
                    <a:srgbClr val="2C3E50"/>
                  </a:solidFill>
                  <a:latin typeface="Carlito"/>
                  <a:ea typeface="Carlito"/>
                  <a:cs typeface="Carlito"/>
                  <a:sym typeface="Carlito"/>
                </a:rPr>
                <a:t> language for data analysis and manipulation</a:t>
              </a:r>
            </a:p>
          </p:txBody>
        </p:sp>
      </p:grpSp>
      <p:grpSp>
        <p:nvGrpSpPr>
          <p:cNvPr name="Group 6" id="6"/>
          <p:cNvGrpSpPr/>
          <p:nvPr/>
        </p:nvGrpSpPr>
        <p:grpSpPr>
          <a:xfrm rot="0">
            <a:off x="9296400" y="3352800"/>
            <a:ext cx="3476954" cy="1153139"/>
            <a:chOff x="0" y="0"/>
            <a:chExt cx="4635939" cy="1537518"/>
          </a:xfrm>
        </p:grpSpPr>
        <p:sp>
          <p:nvSpPr>
            <p:cNvPr name="TextBox 7" id="7"/>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2980B9"/>
                  </a:solidFill>
                  <a:latin typeface="Radley"/>
                  <a:ea typeface="Radley"/>
                  <a:cs typeface="Radley"/>
                  <a:sym typeface="Radley"/>
                </a:rPr>
                <a:t>Jupyter Notebook</a:t>
              </a:r>
            </a:p>
          </p:txBody>
        </p:sp>
        <p:sp>
          <p:nvSpPr>
            <p:cNvPr name="TextBox 8" id="8"/>
            <p:cNvSpPr txBox="true"/>
            <p:nvPr/>
          </p:nvSpPr>
          <p:spPr>
            <a:xfrm rot="0">
              <a:off x="0" y="604280"/>
              <a:ext cx="4635939"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2C3E50"/>
                  </a:solidFill>
                  <a:latin typeface="Carlito"/>
                  <a:ea typeface="Carlito"/>
                  <a:cs typeface="Carlito"/>
                  <a:sym typeface="Carlito"/>
                </a:rPr>
                <a:t>Interactive platform for coding and visualization</a:t>
              </a:r>
            </a:p>
          </p:txBody>
        </p:sp>
      </p:grpSp>
      <p:grpSp>
        <p:nvGrpSpPr>
          <p:cNvPr name="Group 9" id="9"/>
          <p:cNvGrpSpPr/>
          <p:nvPr/>
        </p:nvGrpSpPr>
        <p:grpSpPr>
          <a:xfrm rot="0">
            <a:off x="4981575" y="3352800"/>
            <a:ext cx="3407712" cy="1096125"/>
            <a:chOff x="0" y="0"/>
            <a:chExt cx="4543615" cy="1461500"/>
          </a:xfrm>
        </p:grpSpPr>
        <p:sp>
          <p:nvSpPr>
            <p:cNvPr name="TextBox 10" id="10"/>
            <p:cNvSpPr txBox="true"/>
            <p:nvPr/>
          </p:nvSpPr>
          <p:spPr>
            <a:xfrm rot="0">
              <a:off x="0" y="-47625"/>
              <a:ext cx="4543615"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2980B9"/>
                  </a:solidFill>
                  <a:latin typeface="Radley"/>
                  <a:ea typeface="Radley"/>
                  <a:cs typeface="Radley"/>
                  <a:sym typeface="Radley"/>
                </a:rPr>
                <a:t>SQL</a:t>
              </a:r>
            </a:p>
          </p:txBody>
        </p:sp>
        <p:sp>
          <p:nvSpPr>
            <p:cNvPr name="TextBox 11" id="11"/>
            <p:cNvSpPr txBox="true"/>
            <p:nvPr/>
          </p:nvSpPr>
          <p:spPr>
            <a:xfrm rot="0">
              <a:off x="0" y="528262"/>
              <a:ext cx="4543615"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2C3E50"/>
                  </a:solidFill>
                  <a:latin typeface="Carlito"/>
                  <a:ea typeface="Carlito"/>
                  <a:cs typeface="Carlito"/>
                  <a:sym typeface="Carlito"/>
                </a:rPr>
                <a:t>Essential for managing relational databases efficiently</a:t>
              </a:r>
            </a:p>
          </p:txBody>
        </p:sp>
      </p:grpSp>
      <p:grpSp>
        <p:nvGrpSpPr>
          <p:cNvPr name="Group 12" id="12"/>
          <p:cNvGrpSpPr/>
          <p:nvPr/>
        </p:nvGrpSpPr>
        <p:grpSpPr>
          <a:xfrm rot="0">
            <a:off x="9296400" y="4922520"/>
            <a:ext cx="4010025" cy="4697730"/>
            <a:chOff x="0" y="0"/>
            <a:chExt cx="1391532" cy="1630175"/>
          </a:xfrm>
        </p:grpSpPr>
        <p:sp>
          <p:nvSpPr>
            <p:cNvPr name="Freeform 13" id="13"/>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2"/>
              <a:stretch>
                <a:fillRect l="0" t="-65" r="0" b="-65"/>
              </a:stretch>
            </a:blipFill>
          </p:spPr>
        </p:sp>
      </p:grpSp>
      <p:grpSp>
        <p:nvGrpSpPr>
          <p:cNvPr name="Group 14" id="14"/>
          <p:cNvGrpSpPr/>
          <p:nvPr/>
        </p:nvGrpSpPr>
        <p:grpSpPr>
          <a:xfrm rot="0">
            <a:off x="4981575" y="4922520"/>
            <a:ext cx="4010025" cy="4697730"/>
            <a:chOff x="0" y="0"/>
            <a:chExt cx="1391532" cy="1630175"/>
          </a:xfrm>
        </p:grpSpPr>
        <p:sp>
          <p:nvSpPr>
            <p:cNvPr name="Freeform 15" id="15"/>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3"/>
              <a:stretch>
                <a:fillRect l="0" t="-65" r="0" b="-65"/>
              </a:stretch>
            </a:blipFill>
          </p:spPr>
        </p:sp>
      </p:grpSp>
      <p:grpSp>
        <p:nvGrpSpPr>
          <p:cNvPr name="Group 16" id="16"/>
          <p:cNvGrpSpPr/>
          <p:nvPr/>
        </p:nvGrpSpPr>
        <p:grpSpPr>
          <a:xfrm rot="0">
            <a:off x="666750" y="4922520"/>
            <a:ext cx="4010025" cy="4697730"/>
            <a:chOff x="0" y="0"/>
            <a:chExt cx="879848" cy="1030739"/>
          </a:xfrm>
        </p:grpSpPr>
        <p:sp>
          <p:nvSpPr>
            <p:cNvPr name="Freeform 17" id="17"/>
            <p:cNvSpPr/>
            <p:nvPr/>
          </p:nvSpPr>
          <p:spPr>
            <a:xfrm flipH="false" flipV="false" rot="0">
              <a:off x="0" y="0"/>
              <a:ext cx="879848" cy="1030739"/>
            </a:xfrm>
            <a:custGeom>
              <a:avLst/>
              <a:gdLst/>
              <a:ahLst/>
              <a:cxnLst/>
              <a:rect r="r" b="b" t="t" l="l"/>
              <a:pathLst>
                <a:path h="1030739" w="879848">
                  <a:moveTo>
                    <a:pt x="0" y="0"/>
                  </a:moveTo>
                  <a:lnTo>
                    <a:pt x="879848" y="0"/>
                  </a:lnTo>
                  <a:lnTo>
                    <a:pt x="879848" y="1030739"/>
                  </a:lnTo>
                  <a:lnTo>
                    <a:pt x="0" y="1030739"/>
                  </a:lnTo>
                  <a:close/>
                </a:path>
              </a:pathLst>
            </a:custGeom>
            <a:blipFill>
              <a:blip r:embed="rId4"/>
              <a:stretch>
                <a:fillRect l="0" t="-65" r="0" b="-65"/>
              </a:stretch>
            </a:blipFill>
          </p:spPr>
        </p:sp>
      </p:grpSp>
      <p:grpSp>
        <p:nvGrpSpPr>
          <p:cNvPr name="Group 18" id="18"/>
          <p:cNvGrpSpPr/>
          <p:nvPr/>
        </p:nvGrpSpPr>
        <p:grpSpPr>
          <a:xfrm rot="0">
            <a:off x="13611554" y="4922520"/>
            <a:ext cx="4010025" cy="4697730"/>
            <a:chOff x="0" y="0"/>
            <a:chExt cx="1391532" cy="1630175"/>
          </a:xfrm>
        </p:grpSpPr>
        <p:sp>
          <p:nvSpPr>
            <p:cNvPr name="Freeform 19" id="19"/>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5"/>
              <a:stretch>
                <a:fillRect l="0" t="-65" r="0" b="-65"/>
              </a:stretch>
            </a:blipFill>
          </p:spPr>
        </p:sp>
      </p:grpSp>
      <p:grpSp>
        <p:nvGrpSpPr>
          <p:cNvPr name="Group 20" id="20"/>
          <p:cNvGrpSpPr/>
          <p:nvPr/>
        </p:nvGrpSpPr>
        <p:grpSpPr>
          <a:xfrm rot="0">
            <a:off x="13611554" y="3352800"/>
            <a:ext cx="3476954" cy="1153139"/>
            <a:chOff x="0" y="0"/>
            <a:chExt cx="4635939" cy="1537518"/>
          </a:xfrm>
        </p:grpSpPr>
        <p:sp>
          <p:nvSpPr>
            <p:cNvPr name="TextBox 21" id="21"/>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2980B9"/>
                  </a:solidFill>
                  <a:latin typeface="Radley"/>
                  <a:ea typeface="Radley"/>
                  <a:cs typeface="Radley"/>
                  <a:sym typeface="Radley"/>
                </a:rPr>
                <a:t>Data Visualization</a:t>
              </a:r>
            </a:p>
          </p:txBody>
        </p:sp>
        <p:sp>
          <p:nvSpPr>
            <p:cNvPr name="TextBox 22" id="22"/>
            <p:cNvSpPr txBox="true"/>
            <p:nvPr/>
          </p:nvSpPr>
          <p:spPr>
            <a:xfrm rot="0">
              <a:off x="0" y="604280"/>
              <a:ext cx="4635939"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2C3E50"/>
                  </a:solidFill>
                  <a:latin typeface="Carlito"/>
                  <a:ea typeface="Carlito"/>
                  <a:cs typeface="Carlito"/>
                  <a:sym typeface="Carlito"/>
                </a:rPr>
                <a:t>Communicates insights through compelling graphics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14504632" y="666750"/>
            <a:ext cx="3126143" cy="4768453"/>
            <a:chOff x="0" y="0"/>
            <a:chExt cx="1076712" cy="1642359"/>
          </a:xfrm>
        </p:grpSpPr>
        <p:sp>
          <p:nvSpPr>
            <p:cNvPr name="Freeform 3" id="3"/>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2"/>
              <a:stretch>
                <a:fillRect l="0" t="-333" r="0" b="-333"/>
              </a:stretch>
            </a:blipFill>
          </p:spPr>
        </p:sp>
      </p:grpSp>
      <p:grpSp>
        <p:nvGrpSpPr>
          <p:cNvPr name="Group 4" id="4"/>
          <p:cNvGrpSpPr/>
          <p:nvPr/>
        </p:nvGrpSpPr>
        <p:grpSpPr>
          <a:xfrm rot="0">
            <a:off x="11048446" y="666750"/>
            <a:ext cx="3126143" cy="4768453"/>
            <a:chOff x="0" y="0"/>
            <a:chExt cx="1076712" cy="1642359"/>
          </a:xfrm>
        </p:grpSpPr>
        <p:sp>
          <p:nvSpPr>
            <p:cNvPr name="Freeform 5" id="5"/>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3"/>
              <a:stretch>
                <a:fillRect l="0" t="-333" r="0" b="-333"/>
              </a:stretch>
            </a:blipFill>
          </p:spPr>
        </p:sp>
      </p:grpSp>
      <p:grpSp>
        <p:nvGrpSpPr>
          <p:cNvPr name="Group 6" id="6"/>
          <p:cNvGrpSpPr/>
          <p:nvPr/>
        </p:nvGrpSpPr>
        <p:grpSpPr>
          <a:xfrm rot="0">
            <a:off x="7562850" y="666750"/>
            <a:ext cx="3126143" cy="4768453"/>
            <a:chOff x="0" y="0"/>
            <a:chExt cx="1076712" cy="1642359"/>
          </a:xfrm>
        </p:grpSpPr>
        <p:sp>
          <p:nvSpPr>
            <p:cNvPr name="Freeform 7" id="7"/>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4"/>
              <a:stretch>
                <a:fillRect l="0" t="-333" r="0" b="-333"/>
              </a:stretch>
            </a:blipFill>
          </p:spPr>
        </p:sp>
      </p:grpSp>
      <p:grpSp>
        <p:nvGrpSpPr>
          <p:cNvPr name="Group 8" id="8"/>
          <p:cNvGrpSpPr/>
          <p:nvPr/>
        </p:nvGrpSpPr>
        <p:grpSpPr>
          <a:xfrm rot="0">
            <a:off x="4133665" y="666750"/>
            <a:ext cx="3126143" cy="4768453"/>
            <a:chOff x="0" y="0"/>
            <a:chExt cx="1076712" cy="1642359"/>
          </a:xfrm>
        </p:grpSpPr>
        <p:sp>
          <p:nvSpPr>
            <p:cNvPr name="Freeform 9" id="9"/>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5"/>
              <a:stretch>
                <a:fillRect l="0" t="-333" r="0" b="-333"/>
              </a:stretch>
            </a:blipFill>
          </p:spPr>
        </p:sp>
      </p:grpSp>
      <p:grpSp>
        <p:nvGrpSpPr>
          <p:cNvPr name="Group 10" id="10"/>
          <p:cNvGrpSpPr/>
          <p:nvPr/>
        </p:nvGrpSpPr>
        <p:grpSpPr>
          <a:xfrm rot="0">
            <a:off x="666750" y="666750"/>
            <a:ext cx="3126143" cy="4768453"/>
            <a:chOff x="0" y="0"/>
            <a:chExt cx="1076712" cy="1642359"/>
          </a:xfrm>
        </p:grpSpPr>
        <p:sp>
          <p:nvSpPr>
            <p:cNvPr name="Freeform 11" id="11"/>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6"/>
              <a:stretch>
                <a:fillRect l="0" t="-333" r="0" b="-333"/>
              </a:stretch>
            </a:blipFill>
          </p:spPr>
        </p:sp>
      </p:grpSp>
      <p:grpSp>
        <p:nvGrpSpPr>
          <p:cNvPr name="Group 12" id="12"/>
          <p:cNvGrpSpPr/>
          <p:nvPr/>
        </p:nvGrpSpPr>
        <p:grpSpPr>
          <a:xfrm rot="0">
            <a:off x="666750" y="5688965"/>
            <a:ext cx="2876550" cy="1316355"/>
            <a:chOff x="0" y="0"/>
            <a:chExt cx="3835400" cy="1755141"/>
          </a:xfrm>
        </p:grpSpPr>
        <p:sp>
          <p:nvSpPr>
            <p:cNvPr name="TextBox 13" id="13"/>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EDA Process</a:t>
              </a:r>
            </a:p>
          </p:txBody>
        </p:sp>
        <p:sp>
          <p:nvSpPr>
            <p:cNvPr name="TextBox 14" id="14"/>
            <p:cNvSpPr txBox="true"/>
            <p:nvPr/>
          </p:nvSpPr>
          <p:spPr>
            <a:xfrm rot="0">
              <a:off x="0" y="797349"/>
              <a:ext cx="3833095" cy="957792"/>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2C3E50"/>
                  </a:solidFill>
                  <a:latin typeface="Carlito"/>
                  <a:ea typeface="Carlito"/>
                  <a:cs typeface="Carlito"/>
                  <a:sym typeface="Carlito"/>
                </a:rPr>
                <a:t>Exploring data relationships for insights</a:t>
              </a:r>
            </a:p>
          </p:txBody>
        </p:sp>
      </p:grpSp>
      <p:grpSp>
        <p:nvGrpSpPr>
          <p:cNvPr name="Group 15" id="15"/>
          <p:cNvGrpSpPr/>
          <p:nvPr/>
        </p:nvGrpSpPr>
        <p:grpSpPr>
          <a:xfrm rot="0">
            <a:off x="4133665" y="5688965"/>
            <a:ext cx="2876550" cy="1316355"/>
            <a:chOff x="0" y="0"/>
            <a:chExt cx="3835400" cy="1755141"/>
          </a:xfrm>
        </p:grpSpPr>
        <p:sp>
          <p:nvSpPr>
            <p:cNvPr name="TextBox 16" id="16"/>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SQL Query</a:t>
              </a:r>
            </a:p>
          </p:txBody>
        </p:sp>
        <p:sp>
          <p:nvSpPr>
            <p:cNvPr name="TextBox 17" id="17"/>
            <p:cNvSpPr txBox="true"/>
            <p:nvPr/>
          </p:nvSpPr>
          <p:spPr>
            <a:xfrm rot="0">
              <a:off x="0" y="797349"/>
              <a:ext cx="3835400" cy="957792"/>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2C3E50"/>
                  </a:solidFill>
                  <a:latin typeface="Carlito"/>
                  <a:ea typeface="Carlito"/>
                  <a:cs typeface="Carlito"/>
                  <a:sym typeface="Carlito"/>
                </a:rPr>
                <a:t>Extracting valuable data insights efficiently</a:t>
              </a:r>
            </a:p>
          </p:txBody>
        </p:sp>
      </p:grpSp>
      <p:grpSp>
        <p:nvGrpSpPr>
          <p:cNvPr name="Group 18" id="18"/>
          <p:cNvGrpSpPr/>
          <p:nvPr/>
        </p:nvGrpSpPr>
        <p:grpSpPr>
          <a:xfrm rot="0">
            <a:off x="7562850" y="5688965"/>
            <a:ext cx="2876550" cy="1316355"/>
            <a:chOff x="0" y="0"/>
            <a:chExt cx="3835400" cy="1755141"/>
          </a:xfrm>
        </p:grpSpPr>
        <p:sp>
          <p:nvSpPr>
            <p:cNvPr name="TextBox 19" id="19"/>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Regression Model</a:t>
              </a:r>
            </a:p>
          </p:txBody>
        </p:sp>
        <p:sp>
          <p:nvSpPr>
            <p:cNvPr name="TextBox 20" id="20"/>
            <p:cNvSpPr txBox="true"/>
            <p:nvPr/>
          </p:nvSpPr>
          <p:spPr>
            <a:xfrm rot="0">
              <a:off x="0" y="797349"/>
              <a:ext cx="3835400" cy="957792"/>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2C3E50"/>
                  </a:solidFill>
                  <a:latin typeface="Carlito"/>
                  <a:ea typeface="Carlito"/>
                  <a:cs typeface="Carlito"/>
                  <a:sym typeface="Carlito"/>
                </a:rPr>
                <a:t>Predicting future purchases accurately</a:t>
              </a:r>
            </a:p>
          </p:txBody>
        </p:sp>
      </p:grpSp>
      <p:grpSp>
        <p:nvGrpSpPr>
          <p:cNvPr name="Group 21" id="21"/>
          <p:cNvGrpSpPr/>
          <p:nvPr/>
        </p:nvGrpSpPr>
        <p:grpSpPr>
          <a:xfrm rot="0">
            <a:off x="11048446" y="5688965"/>
            <a:ext cx="2876550" cy="1316355"/>
            <a:chOff x="0" y="0"/>
            <a:chExt cx="3835400" cy="1755141"/>
          </a:xfrm>
        </p:grpSpPr>
        <p:sp>
          <p:nvSpPr>
            <p:cNvPr name="TextBox 22" id="22"/>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Seasonal Trends</a:t>
              </a:r>
            </a:p>
          </p:txBody>
        </p:sp>
        <p:sp>
          <p:nvSpPr>
            <p:cNvPr name="TextBox 23" id="23"/>
            <p:cNvSpPr txBox="true"/>
            <p:nvPr/>
          </p:nvSpPr>
          <p:spPr>
            <a:xfrm rot="0">
              <a:off x="0" y="797349"/>
              <a:ext cx="3835400" cy="957792"/>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2C3E50"/>
                  </a:solidFill>
                  <a:latin typeface="Carlito"/>
                  <a:ea typeface="Carlito"/>
                  <a:cs typeface="Carlito"/>
                  <a:sym typeface="Carlito"/>
                </a:rPr>
                <a:t>Understanding customer behavior variations</a:t>
              </a:r>
            </a:p>
          </p:txBody>
        </p:sp>
      </p:grpSp>
      <p:grpSp>
        <p:nvGrpSpPr>
          <p:cNvPr name="Group 24" id="24"/>
          <p:cNvGrpSpPr/>
          <p:nvPr/>
        </p:nvGrpSpPr>
        <p:grpSpPr>
          <a:xfrm rot="0">
            <a:off x="14504632" y="5688965"/>
            <a:ext cx="2876550" cy="1316355"/>
            <a:chOff x="0" y="0"/>
            <a:chExt cx="3835400" cy="1755141"/>
          </a:xfrm>
        </p:grpSpPr>
        <p:sp>
          <p:nvSpPr>
            <p:cNvPr name="TextBox 25" id="25"/>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Code Generation</a:t>
              </a:r>
            </a:p>
          </p:txBody>
        </p:sp>
        <p:sp>
          <p:nvSpPr>
            <p:cNvPr name="TextBox 26" id="26"/>
            <p:cNvSpPr txBox="true"/>
            <p:nvPr/>
          </p:nvSpPr>
          <p:spPr>
            <a:xfrm rot="0">
              <a:off x="0" y="797349"/>
              <a:ext cx="3835400" cy="957792"/>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2C3E50"/>
                  </a:solidFill>
                  <a:latin typeface="Carlito"/>
                  <a:ea typeface="Carlito"/>
                  <a:cs typeface="Carlito"/>
                  <a:sym typeface="Carlito"/>
                </a:rPr>
                <a:t>Automating tasks with AI assistance</a:t>
              </a:r>
            </a:p>
          </p:txBody>
        </p:sp>
      </p:grpSp>
      <p:sp>
        <p:nvSpPr>
          <p:cNvPr name="TextBox 27" id="27"/>
          <p:cNvSpPr txBox="true"/>
          <p:nvPr/>
        </p:nvSpPr>
        <p:spPr>
          <a:xfrm rot="0">
            <a:off x="666750" y="78867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2C3E50"/>
                </a:solidFill>
                <a:latin typeface="Radley"/>
                <a:ea typeface="Radley"/>
                <a:cs typeface="Radley"/>
                <a:sym typeface="Radley"/>
              </a:rPr>
              <a:t>Key Prompts for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316" t="0" r="-316"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316" t="0" r="-316"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316" t="0" r="-316"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Workflow</a:t>
            </a:r>
          </a:p>
        </p:txBody>
      </p:sp>
      <p:grpSp>
        <p:nvGrpSpPr>
          <p:cNvPr name="Group 9" id="9"/>
          <p:cNvGrpSpPr/>
          <p:nvPr/>
        </p:nvGrpSpPr>
        <p:grpSpPr>
          <a:xfrm rot="0">
            <a:off x="4981575" y="4248150"/>
            <a:ext cx="2876550" cy="1255395"/>
            <a:chOff x="0" y="0"/>
            <a:chExt cx="3835400" cy="1673860"/>
          </a:xfrm>
        </p:grpSpPr>
        <p:sp>
          <p:nvSpPr>
            <p:cNvPr name="TextBox 10" id="10"/>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Data Collection</a:t>
              </a:r>
            </a:p>
          </p:txBody>
        </p:sp>
        <p:sp>
          <p:nvSpPr>
            <p:cNvPr name="TextBox 11" id="11"/>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Gathering relevant data for analysis.</a:t>
              </a:r>
            </a:p>
          </p:txBody>
        </p:sp>
      </p:grpSp>
      <p:grpSp>
        <p:nvGrpSpPr>
          <p:cNvPr name="Group 12" id="12"/>
          <p:cNvGrpSpPr/>
          <p:nvPr/>
        </p:nvGrpSpPr>
        <p:grpSpPr>
          <a:xfrm rot="0">
            <a:off x="9296400" y="4248150"/>
            <a:ext cx="2876550" cy="1255395"/>
            <a:chOff x="0" y="0"/>
            <a:chExt cx="3835400" cy="1673860"/>
          </a:xfrm>
        </p:grpSpPr>
        <p:sp>
          <p:nvSpPr>
            <p:cNvPr name="TextBox 13" id="13"/>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Ensuring data quality through preprocessing steps.</a:t>
              </a:r>
            </a:p>
          </p:txBody>
        </p:sp>
        <p:sp>
          <p:nvSpPr>
            <p:cNvPr name="TextBox 14" id="14"/>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Data Cleaning</a:t>
              </a:r>
            </a:p>
          </p:txBody>
        </p:sp>
      </p:grpSp>
      <p:grpSp>
        <p:nvGrpSpPr>
          <p:cNvPr name="Group 15" id="15"/>
          <p:cNvGrpSpPr/>
          <p:nvPr/>
        </p:nvGrpSpPr>
        <p:grpSpPr>
          <a:xfrm rot="0">
            <a:off x="13611225" y="4248150"/>
            <a:ext cx="2876550" cy="1255395"/>
            <a:chOff x="0" y="0"/>
            <a:chExt cx="3835400" cy="1673860"/>
          </a:xfrm>
        </p:grpSpPr>
        <p:sp>
          <p:nvSpPr>
            <p:cNvPr name="TextBox 16" id="16"/>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Applying techniques to derive business insights.</a:t>
              </a:r>
            </a:p>
          </p:txBody>
        </p:sp>
        <p:sp>
          <p:nvSpPr>
            <p:cNvPr name="TextBox 17" id="17"/>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Analysis Process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666750" y="9184102"/>
            <a:ext cx="2171730" cy="2205796"/>
            <a:chOff x="0" y="0"/>
            <a:chExt cx="812800" cy="825500"/>
          </a:xfrm>
        </p:grpSpPr>
        <p:sp>
          <p:nvSpPr>
            <p:cNvPr name="Freeform 3" id="3"/>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4" id="4"/>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0">
            <a:off x="6663510" y="666750"/>
            <a:ext cx="10390214" cy="7234187"/>
          </a:xfrm>
          <a:custGeom>
            <a:avLst/>
            <a:gdLst/>
            <a:ahLst/>
            <a:cxnLst/>
            <a:rect r="r" b="b" t="t" l="l"/>
            <a:pathLst>
              <a:path h="7234187" w="10390214">
                <a:moveTo>
                  <a:pt x="0" y="0"/>
                </a:moveTo>
                <a:lnTo>
                  <a:pt x="10390214" y="0"/>
                </a:lnTo>
                <a:lnTo>
                  <a:pt x="10390214" y="7234187"/>
                </a:lnTo>
                <a:lnTo>
                  <a:pt x="0" y="7234187"/>
                </a:lnTo>
                <a:lnTo>
                  <a:pt x="0" y="0"/>
                </a:lnTo>
                <a:close/>
              </a:path>
            </a:pathLst>
          </a:custGeom>
          <a:blipFill>
            <a:blip r:embed="rId2"/>
            <a:stretch>
              <a:fillRect l="0" t="0" r="0" b="0"/>
            </a:stretch>
          </a:blipFill>
        </p:spPr>
      </p:sp>
      <p:sp>
        <p:nvSpPr>
          <p:cNvPr name="TextBox 6" id="6"/>
          <p:cNvSpPr txBox="true"/>
          <p:nvPr/>
        </p:nvSpPr>
        <p:spPr>
          <a:xfrm rot="0">
            <a:off x="666750" y="723900"/>
            <a:ext cx="4619625" cy="29857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Frontend View of  Notebook</a:t>
            </a:r>
          </a:p>
        </p:txBody>
      </p:sp>
      <p:grpSp>
        <p:nvGrpSpPr>
          <p:cNvPr name="Group 7" id="7"/>
          <p:cNvGrpSpPr/>
          <p:nvPr/>
        </p:nvGrpSpPr>
        <p:grpSpPr>
          <a:xfrm rot="0">
            <a:off x="7553325" y="7829550"/>
            <a:ext cx="5753100" cy="895350"/>
            <a:chOff x="0" y="0"/>
            <a:chExt cx="7670800" cy="1193800"/>
          </a:xfrm>
        </p:grpSpPr>
        <p:sp>
          <p:nvSpPr>
            <p:cNvPr name="TextBox 8" id="8"/>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Notebook Interface</a:t>
              </a:r>
            </a:p>
          </p:txBody>
        </p:sp>
        <p:sp>
          <p:nvSpPr>
            <p:cNvPr name="TextBox 9" id="9"/>
            <p:cNvSpPr txBox="true"/>
            <p:nvPr/>
          </p:nvSpPr>
          <p:spPr>
            <a:xfrm rot="0">
              <a:off x="0" y="759460"/>
              <a:ext cx="7670800" cy="4343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Visual representation of data analysis and insights.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666750" y="9184102"/>
            <a:ext cx="2171730" cy="2205796"/>
            <a:chOff x="0" y="0"/>
            <a:chExt cx="812800" cy="825500"/>
          </a:xfrm>
        </p:grpSpPr>
        <p:sp>
          <p:nvSpPr>
            <p:cNvPr name="Freeform 3" id="3"/>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4" id="4"/>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0">
            <a:off x="5286375" y="1906643"/>
            <a:ext cx="4458104" cy="3343578"/>
          </a:xfrm>
          <a:custGeom>
            <a:avLst/>
            <a:gdLst/>
            <a:ahLst/>
            <a:cxnLst/>
            <a:rect r="r" b="b" t="t" l="l"/>
            <a:pathLst>
              <a:path h="3343578" w="4458104">
                <a:moveTo>
                  <a:pt x="0" y="0"/>
                </a:moveTo>
                <a:lnTo>
                  <a:pt x="4458104" y="0"/>
                </a:lnTo>
                <a:lnTo>
                  <a:pt x="4458104" y="3343578"/>
                </a:lnTo>
                <a:lnTo>
                  <a:pt x="0" y="3343578"/>
                </a:lnTo>
                <a:lnTo>
                  <a:pt x="0" y="0"/>
                </a:lnTo>
                <a:close/>
              </a:path>
            </a:pathLst>
          </a:custGeom>
          <a:blipFill>
            <a:blip r:embed="rId2"/>
            <a:stretch>
              <a:fillRect l="0" t="0" r="0" b="0"/>
            </a:stretch>
          </a:blipFill>
        </p:spPr>
      </p:sp>
      <p:sp>
        <p:nvSpPr>
          <p:cNvPr name="Freeform 6" id="6"/>
          <p:cNvSpPr/>
          <p:nvPr/>
        </p:nvSpPr>
        <p:spPr>
          <a:xfrm flipH="false" flipV="false" rot="0">
            <a:off x="7928121" y="5602438"/>
            <a:ext cx="4458104" cy="3343578"/>
          </a:xfrm>
          <a:custGeom>
            <a:avLst/>
            <a:gdLst/>
            <a:ahLst/>
            <a:cxnLst/>
            <a:rect r="r" b="b" t="t" l="l"/>
            <a:pathLst>
              <a:path h="3343578" w="4458104">
                <a:moveTo>
                  <a:pt x="0" y="0"/>
                </a:moveTo>
                <a:lnTo>
                  <a:pt x="4458104" y="0"/>
                </a:lnTo>
                <a:lnTo>
                  <a:pt x="4458104" y="3343578"/>
                </a:lnTo>
                <a:lnTo>
                  <a:pt x="0" y="3343578"/>
                </a:lnTo>
                <a:lnTo>
                  <a:pt x="0" y="0"/>
                </a:lnTo>
                <a:close/>
              </a:path>
            </a:pathLst>
          </a:custGeom>
          <a:blipFill>
            <a:blip r:embed="rId3"/>
            <a:stretch>
              <a:fillRect l="0" t="0" r="0" b="0"/>
            </a:stretch>
          </a:blipFill>
        </p:spPr>
      </p:sp>
      <p:sp>
        <p:nvSpPr>
          <p:cNvPr name="Freeform 7" id="7"/>
          <p:cNvSpPr/>
          <p:nvPr/>
        </p:nvSpPr>
        <p:spPr>
          <a:xfrm flipH="false" flipV="false" rot="0">
            <a:off x="10982156" y="1906643"/>
            <a:ext cx="4458104" cy="3343578"/>
          </a:xfrm>
          <a:custGeom>
            <a:avLst/>
            <a:gdLst/>
            <a:ahLst/>
            <a:cxnLst/>
            <a:rect r="r" b="b" t="t" l="l"/>
            <a:pathLst>
              <a:path h="3343578" w="4458104">
                <a:moveTo>
                  <a:pt x="0" y="0"/>
                </a:moveTo>
                <a:lnTo>
                  <a:pt x="4458103" y="0"/>
                </a:lnTo>
                <a:lnTo>
                  <a:pt x="4458103" y="3343578"/>
                </a:lnTo>
                <a:lnTo>
                  <a:pt x="0" y="3343578"/>
                </a:lnTo>
                <a:lnTo>
                  <a:pt x="0" y="0"/>
                </a:lnTo>
                <a:close/>
              </a:path>
            </a:pathLst>
          </a:custGeom>
          <a:blipFill>
            <a:blip r:embed="rId4"/>
            <a:stretch>
              <a:fillRect l="0" t="0" r="0" b="0"/>
            </a:stretch>
          </a:blipFill>
        </p:spPr>
      </p:sp>
      <p:sp>
        <p:nvSpPr>
          <p:cNvPr name="Freeform 8" id="8"/>
          <p:cNvSpPr/>
          <p:nvPr/>
        </p:nvSpPr>
        <p:spPr>
          <a:xfrm flipH="false" flipV="false" rot="0">
            <a:off x="2645035" y="5602438"/>
            <a:ext cx="4458104" cy="3343578"/>
          </a:xfrm>
          <a:custGeom>
            <a:avLst/>
            <a:gdLst/>
            <a:ahLst/>
            <a:cxnLst/>
            <a:rect r="r" b="b" t="t" l="l"/>
            <a:pathLst>
              <a:path h="3343578" w="4458104">
                <a:moveTo>
                  <a:pt x="0" y="0"/>
                </a:moveTo>
                <a:lnTo>
                  <a:pt x="4458103" y="0"/>
                </a:lnTo>
                <a:lnTo>
                  <a:pt x="4458103" y="3343578"/>
                </a:lnTo>
                <a:lnTo>
                  <a:pt x="0" y="3343578"/>
                </a:lnTo>
                <a:lnTo>
                  <a:pt x="0" y="0"/>
                </a:lnTo>
                <a:close/>
              </a:path>
            </a:pathLst>
          </a:custGeom>
          <a:blipFill>
            <a:blip r:embed="rId5"/>
            <a:stretch>
              <a:fillRect l="0" t="0" r="0" b="0"/>
            </a:stretch>
          </a:blipFill>
        </p:spPr>
      </p:sp>
      <p:sp>
        <p:nvSpPr>
          <p:cNvPr name="Freeform 9" id="9"/>
          <p:cNvSpPr/>
          <p:nvPr/>
        </p:nvSpPr>
        <p:spPr>
          <a:xfrm flipH="false" flipV="false" rot="0">
            <a:off x="13211207" y="5602438"/>
            <a:ext cx="4458104" cy="3343578"/>
          </a:xfrm>
          <a:custGeom>
            <a:avLst/>
            <a:gdLst/>
            <a:ahLst/>
            <a:cxnLst/>
            <a:rect r="r" b="b" t="t" l="l"/>
            <a:pathLst>
              <a:path h="3343578" w="4458104">
                <a:moveTo>
                  <a:pt x="0" y="0"/>
                </a:moveTo>
                <a:lnTo>
                  <a:pt x="4458104" y="0"/>
                </a:lnTo>
                <a:lnTo>
                  <a:pt x="4458104" y="3343578"/>
                </a:lnTo>
                <a:lnTo>
                  <a:pt x="0" y="3343578"/>
                </a:lnTo>
                <a:lnTo>
                  <a:pt x="0" y="0"/>
                </a:lnTo>
                <a:close/>
              </a:path>
            </a:pathLst>
          </a:custGeom>
          <a:blipFill>
            <a:blip r:embed="rId6"/>
            <a:stretch>
              <a:fillRect l="0" t="0" r="0" b="0"/>
            </a:stretch>
          </a:blipFill>
        </p:spPr>
      </p:sp>
      <p:sp>
        <p:nvSpPr>
          <p:cNvPr name="TextBox 10" id="10"/>
          <p:cNvSpPr txBox="true"/>
          <p:nvPr/>
        </p:nvSpPr>
        <p:spPr>
          <a:xfrm rot="0">
            <a:off x="666750" y="723900"/>
            <a:ext cx="4619625" cy="1995172"/>
          </a:xfrm>
          <a:prstGeom prst="rect">
            <a:avLst/>
          </a:prstGeom>
        </p:spPr>
        <p:txBody>
          <a:bodyPr anchor="t" rtlCol="false" tIns="0" lIns="0" bIns="0" rIns="0">
            <a:spAutoFit/>
          </a:bodyPr>
          <a:lstStyle/>
          <a:p>
            <a:pPr algn="l">
              <a:lnSpc>
                <a:spcPts val="7840"/>
              </a:lnSpc>
            </a:pPr>
            <a:r>
              <a:rPr lang="en-US" sz="7000">
                <a:solidFill>
                  <a:srgbClr val="2C3E50"/>
                </a:solidFill>
                <a:latin typeface="Radley"/>
                <a:ea typeface="Radley"/>
                <a:cs typeface="Radley"/>
                <a:sym typeface="Radley"/>
              </a:rPr>
              <a:t>Output</a:t>
            </a:r>
          </a:p>
          <a:p>
            <a:pPr algn="l" marL="0" indent="0" lvl="0">
              <a:lnSpc>
                <a:spcPts val="7840"/>
              </a:lnSpc>
              <a:spcBef>
                <a:spcPct val="0"/>
              </a:spcBef>
            </a:pPr>
            <a:r>
              <a:rPr lang="en-US" sz="7000">
                <a:solidFill>
                  <a:srgbClr val="2C3E50"/>
                </a:solidFill>
                <a:latin typeface="Radley"/>
                <a:ea typeface="Radley"/>
                <a:cs typeface="Radley"/>
                <a:sym typeface="Radley"/>
              </a:rPr>
              <a:t>Graphs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308264"/>
            <a:ext cx="5851631" cy="3613382"/>
          </a:xfrm>
          <a:custGeom>
            <a:avLst/>
            <a:gdLst/>
            <a:ahLst/>
            <a:cxnLst/>
            <a:rect r="r" b="b" t="t" l="l"/>
            <a:pathLst>
              <a:path h="3613382" w="5851631">
                <a:moveTo>
                  <a:pt x="0" y="0"/>
                </a:moveTo>
                <a:lnTo>
                  <a:pt x="5851631" y="0"/>
                </a:lnTo>
                <a:lnTo>
                  <a:pt x="5851631" y="3613383"/>
                </a:lnTo>
                <a:lnTo>
                  <a:pt x="0" y="3613383"/>
                </a:lnTo>
                <a:lnTo>
                  <a:pt x="0" y="0"/>
                </a:lnTo>
                <a:close/>
              </a:path>
            </a:pathLst>
          </a:custGeom>
          <a:blipFill>
            <a:blip r:embed="rId2"/>
            <a:stretch>
              <a:fillRect l="0" t="0" r="0" b="0"/>
            </a:stretch>
          </a:blipFill>
        </p:spPr>
      </p:sp>
      <p:sp>
        <p:nvSpPr>
          <p:cNvPr name="Freeform 3" id="3"/>
          <p:cNvSpPr/>
          <p:nvPr/>
        </p:nvSpPr>
        <p:spPr>
          <a:xfrm flipH="false" flipV="false" rot="0">
            <a:off x="6124930" y="250680"/>
            <a:ext cx="6038140" cy="3728552"/>
          </a:xfrm>
          <a:custGeom>
            <a:avLst/>
            <a:gdLst/>
            <a:ahLst/>
            <a:cxnLst/>
            <a:rect r="r" b="b" t="t" l="l"/>
            <a:pathLst>
              <a:path h="3728552" w="6038140">
                <a:moveTo>
                  <a:pt x="0" y="0"/>
                </a:moveTo>
                <a:lnTo>
                  <a:pt x="6038140" y="0"/>
                </a:lnTo>
                <a:lnTo>
                  <a:pt x="6038140" y="3728551"/>
                </a:lnTo>
                <a:lnTo>
                  <a:pt x="0" y="3728551"/>
                </a:lnTo>
                <a:lnTo>
                  <a:pt x="0" y="0"/>
                </a:lnTo>
                <a:close/>
              </a:path>
            </a:pathLst>
          </a:custGeom>
          <a:blipFill>
            <a:blip r:embed="rId3"/>
            <a:stretch>
              <a:fillRect l="0" t="0" r="0" b="0"/>
            </a:stretch>
          </a:blipFill>
        </p:spPr>
      </p:sp>
      <p:sp>
        <p:nvSpPr>
          <p:cNvPr name="Freeform 4" id="4"/>
          <p:cNvSpPr/>
          <p:nvPr/>
        </p:nvSpPr>
        <p:spPr>
          <a:xfrm flipH="false" flipV="false" rot="0">
            <a:off x="11743647" y="194572"/>
            <a:ext cx="6219866" cy="3840767"/>
          </a:xfrm>
          <a:custGeom>
            <a:avLst/>
            <a:gdLst/>
            <a:ahLst/>
            <a:cxnLst/>
            <a:rect r="r" b="b" t="t" l="l"/>
            <a:pathLst>
              <a:path h="3840767" w="6219866">
                <a:moveTo>
                  <a:pt x="0" y="0"/>
                </a:moveTo>
                <a:lnTo>
                  <a:pt x="6219865" y="0"/>
                </a:lnTo>
                <a:lnTo>
                  <a:pt x="6219865" y="3840767"/>
                </a:lnTo>
                <a:lnTo>
                  <a:pt x="0" y="3840767"/>
                </a:lnTo>
                <a:lnTo>
                  <a:pt x="0" y="0"/>
                </a:lnTo>
                <a:close/>
              </a:path>
            </a:pathLst>
          </a:custGeom>
          <a:blipFill>
            <a:blip r:embed="rId4"/>
            <a:stretch>
              <a:fillRect l="0" t="0" r="0" b="0"/>
            </a:stretch>
          </a:blipFill>
        </p:spPr>
      </p:sp>
      <p:sp>
        <p:nvSpPr>
          <p:cNvPr name="Freeform 5" id="5"/>
          <p:cNvSpPr/>
          <p:nvPr/>
        </p:nvSpPr>
        <p:spPr>
          <a:xfrm flipH="false" flipV="false" rot="0">
            <a:off x="3107056" y="3802824"/>
            <a:ext cx="6035748" cy="3727075"/>
          </a:xfrm>
          <a:custGeom>
            <a:avLst/>
            <a:gdLst/>
            <a:ahLst/>
            <a:cxnLst/>
            <a:rect r="r" b="b" t="t" l="l"/>
            <a:pathLst>
              <a:path h="3727075" w="6035748">
                <a:moveTo>
                  <a:pt x="0" y="0"/>
                </a:moveTo>
                <a:lnTo>
                  <a:pt x="6035748" y="0"/>
                </a:lnTo>
                <a:lnTo>
                  <a:pt x="6035748" y="3727075"/>
                </a:lnTo>
                <a:lnTo>
                  <a:pt x="0" y="3727075"/>
                </a:lnTo>
                <a:lnTo>
                  <a:pt x="0" y="0"/>
                </a:lnTo>
                <a:close/>
              </a:path>
            </a:pathLst>
          </a:custGeom>
          <a:blipFill>
            <a:blip r:embed="rId5"/>
            <a:stretch>
              <a:fillRect l="0" t="0" r="0" b="0"/>
            </a:stretch>
          </a:blipFill>
        </p:spPr>
      </p:sp>
      <p:sp>
        <p:nvSpPr>
          <p:cNvPr name="Freeform 6" id="6"/>
          <p:cNvSpPr/>
          <p:nvPr/>
        </p:nvSpPr>
        <p:spPr>
          <a:xfrm flipH="false" flipV="false" rot="0">
            <a:off x="9053137" y="3802824"/>
            <a:ext cx="6219866" cy="3840767"/>
          </a:xfrm>
          <a:custGeom>
            <a:avLst/>
            <a:gdLst/>
            <a:ahLst/>
            <a:cxnLst/>
            <a:rect r="r" b="b" t="t" l="l"/>
            <a:pathLst>
              <a:path h="3840767" w="6219866">
                <a:moveTo>
                  <a:pt x="0" y="0"/>
                </a:moveTo>
                <a:lnTo>
                  <a:pt x="6219866" y="0"/>
                </a:lnTo>
                <a:lnTo>
                  <a:pt x="6219866" y="3840767"/>
                </a:lnTo>
                <a:lnTo>
                  <a:pt x="0" y="3840767"/>
                </a:lnTo>
                <a:lnTo>
                  <a:pt x="0" y="0"/>
                </a:lnTo>
                <a:close/>
              </a:path>
            </a:pathLst>
          </a:custGeom>
          <a:blipFill>
            <a:blip r:embed="rId6"/>
            <a:stretch>
              <a:fillRect l="0" t="0" r="0" b="0"/>
            </a:stretch>
          </a:blipFill>
        </p:spPr>
      </p:sp>
      <p:sp>
        <p:nvSpPr>
          <p:cNvPr name="TextBox 7" id="7"/>
          <p:cNvSpPr txBox="true"/>
          <p:nvPr/>
        </p:nvSpPr>
        <p:spPr>
          <a:xfrm rot="0">
            <a:off x="666750" y="78867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2C3E50"/>
                </a:solidFill>
                <a:latin typeface="Radley"/>
                <a:ea typeface="Radley"/>
                <a:cs typeface="Radley"/>
                <a:sym typeface="Radley"/>
              </a:rPr>
              <a:t>Visual evidence of AI code gene</a:t>
            </a:r>
            <a:r>
              <a:rPr lang="en-US" sz="7000">
                <a:solidFill>
                  <a:srgbClr val="2C3E50"/>
                </a:solidFill>
                <a:latin typeface="Radley"/>
                <a:ea typeface="Radley"/>
                <a:cs typeface="Radley"/>
                <a:sym typeface="Radley"/>
              </a:rPr>
              <a:t>ration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5172075"/>
            <a:chOff x="0" y="0"/>
            <a:chExt cx="9641153" cy="68961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2C3E50"/>
                  </a:solidFill>
                  <a:latin typeface="Radley Italics"/>
                  <a:ea typeface="Radley Italics"/>
                  <a:cs typeface="Radley Italics"/>
                  <a:sym typeface="Radley Italics"/>
                </a:rPr>
                <a:t>References</a:t>
              </a:r>
            </a:p>
          </p:txBody>
        </p:sp>
        <p:sp>
          <p:nvSpPr>
            <p:cNvPr name="TextBox 6" id="6"/>
            <p:cNvSpPr txBox="true"/>
            <p:nvPr/>
          </p:nvSpPr>
          <p:spPr>
            <a:xfrm rot="0">
              <a:off x="26326" y="23876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2980B9"/>
                  </a:solidFill>
                  <a:latin typeface="Radley"/>
                  <a:ea typeface="Radley"/>
                  <a:cs typeface="Radley"/>
                  <a:sym typeface="Radley"/>
                </a:rPr>
                <a:t>Essential Resources for Customer Shopping Behavior Analysis</a:t>
              </a:r>
            </a:p>
          </p:txBody>
        </p:sp>
        <p:sp>
          <p:nvSpPr>
            <p:cNvPr name="AutoShape 7" id="7"/>
            <p:cNvSpPr/>
            <p:nvPr/>
          </p:nvSpPr>
          <p:spPr>
            <a:xfrm>
              <a:off x="0" y="1901614"/>
              <a:ext cx="9614826" cy="0"/>
            </a:xfrm>
            <a:prstGeom prst="line">
              <a:avLst/>
            </a:prstGeom>
            <a:ln cap="flat" w="25400">
              <a:solidFill>
                <a:srgbClr val="2C3E50"/>
              </a:solidFill>
              <a:prstDash val="solid"/>
              <a:headEnd type="none" len="sm" w="sm"/>
              <a:tailEnd type="none" len="sm" w="sm"/>
            </a:ln>
          </p:spPr>
        </p:sp>
        <p:sp>
          <p:nvSpPr>
            <p:cNvPr name="TextBox 8" id="8"/>
            <p:cNvSpPr txBox="true"/>
            <p:nvPr/>
          </p:nvSpPr>
          <p:spPr>
            <a:xfrm rot="0">
              <a:off x="26326" y="4419600"/>
              <a:ext cx="9588500" cy="2476500"/>
            </a:xfrm>
            <a:prstGeom prst="rect">
              <a:avLst/>
            </a:prstGeom>
          </p:spPr>
          <p:txBody>
            <a:bodyPr anchor="t" rtlCol="false" tIns="0" lIns="0" bIns="0" rIns="0">
              <a:spAutoFit/>
            </a:bodyPr>
            <a:lstStyle/>
            <a:p>
              <a:pPr algn="l" marL="0" indent="0" lvl="0">
                <a:lnSpc>
                  <a:spcPts val="2400"/>
                </a:lnSpc>
              </a:pPr>
              <a:r>
                <a:rPr lang="en-US" sz="2000">
                  <a:solidFill>
                    <a:srgbClr val="2C3E50"/>
                  </a:solidFill>
                  <a:latin typeface="Carlito"/>
                  <a:ea typeface="Carlito"/>
                  <a:cs typeface="Carlito"/>
                  <a:sym typeface="Carlito"/>
                </a:rPr>
                <a:t>To conduct a comprehensive analysis of customer shopping behavior, we utilized various resources including the dataset titled </a:t>
              </a:r>
              <a:r>
                <a:rPr lang="en-US" b="true" sz="2000">
                  <a:solidFill>
                    <a:srgbClr val="2C3E50"/>
                  </a:solidFill>
                  <a:latin typeface="Carlito Bold"/>
                  <a:ea typeface="Carlito Bold"/>
                  <a:cs typeface="Carlito Bold"/>
                  <a:sym typeface="Carlito Bold"/>
                </a:rPr>
                <a:t>customer_shopping_behavior.csv</a:t>
              </a:r>
              <a:r>
                <a:rPr lang="en-US" sz="2000">
                  <a:solidFill>
                    <a:srgbClr val="2C3E50"/>
                  </a:solidFill>
                  <a:latin typeface="Carlito"/>
                  <a:ea typeface="Carlito"/>
                  <a:cs typeface="Carlito"/>
                  <a:sym typeface="Carlito"/>
                </a:rPr>
                <a:t>, extensive Python libraries, and SQL documentation. Additionally, our work was supported by Jupyter Notebook resources, ensuring effective implementation of data analysis techniques.</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Customer Shopping Behavior Analysis</dc:description>
  <dc:identifier>DAHGSGyhoIw</dc:identifier>
  <dcterms:modified xsi:type="dcterms:W3CDTF">2011-08-01T06:04:30Z</dcterms:modified>
  <cp:revision>1</cp:revision>
  <dc:title>Presentation - Customer Shopping Behavior Analysis</dc:title>
</cp:coreProperties>
</file>